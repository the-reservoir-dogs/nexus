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3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736D63"/>
                </a:solidFill>
                <a:latin typeface="Consolas"/>
              </a:rPr>
              <a:t>ZERO TO ONE  ·  AI-NATIVE STORYTELLING (P1)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600" b="1" i="0">
                <a:solidFill>
                  <a:srgbClr val="1A1A1A"/>
                </a:solidFill>
                <a:latin typeface="Georgia"/>
              </a:rPr>
              <a:t>NEXUS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3A3733"/>
                </a:solidFill>
                <a:latin typeface="Georgia"/>
              </a:rPr>
              <a:t>A living story </a:t>
            </a:r>
            <a:r>
              <a:rPr sz="3000" b="0" i="1">
                <a:solidFill>
                  <a:srgbClr val="C23616"/>
                </a:solidFill>
                <a:latin typeface="Georgia"/>
              </a:rPr>
              <a:t>multiverse</a:t>
            </a:r>
            <a:r>
              <a:rPr sz="3000" b="0" i="0">
                <a:solidFill>
                  <a:srgbClr val="3A3733"/>
                </a:solidFill>
                <a:latin typeface="Georgia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3A3733"/>
                </a:solidFill>
                <a:latin typeface="Calibri"/>
              </a:rPr>
              <a:t>Rewind any story, change one decision, and an AI rewrites the future 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3A3733"/>
                </a:solidFill>
                <a:latin typeface="Calibri"/>
              </a:rPr>
              <a:t>keeping every character and every fact consistent. Narrated as audio drama.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766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736D63"/>
                </a:solidFill>
                <a:latin typeface="Consolas"/>
              </a:rPr>
              <a:t>POWERED BY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669280"/>
            <a:ext cx="1417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200" b="1">
                <a:solidFill>
                  <a:srgbClr val="E5344E"/>
                </a:solidFill>
                <a:latin typeface="Calibri"/>
              </a:rPr>
              <a:t>● </a:t>
            </a:r>
            <a:r>
              <a:rPr sz="1200" b="1">
                <a:solidFill>
                  <a:srgbClr val="1A1A1A"/>
                </a:solidFill>
                <a:latin typeface="Calibri"/>
              </a:rPr>
              <a:t>Pocket FM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5669280"/>
            <a:ext cx="1417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200" b="1">
                <a:solidFill>
                  <a:srgbClr val="FF3621"/>
                </a:solidFill>
                <a:latin typeface="Calibri"/>
              </a:rPr>
              <a:t>● </a:t>
            </a:r>
            <a:r>
              <a:rPr sz="1200" b="1">
                <a:solidFill>
                  <a:srgbClr val="1A1A1A"/>
                </a:solidFill>
                <a:latin typeface="Calibri"/>
              </a:rPr>
              <a:t>Databricks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5669280"/>
            <a:ext cx="1417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● </a:t>
            </a:r>
            <a:r>
              <a:rPr sz="1200" b="1">
                <a:solidFill>
                  <a:srgbClr val="1A1A1A"/>
                </a:solidFill>
                <a:latin typeface="Calibri"/>
              </a:rPr>
              <a:t>OpenAI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5669280"/>
            <a:ext cx="1417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● </a:t>
            </a:r>
            <a:r>
              <a:rPr sz="1200" b="1">
                <a:solidFill>
                  <a:srgbClr val="1A1A1A"/>
                </a:solidFill>
                <a:latin typeface="Calibri"/>
              </a:rPr>
              <a:t>HackCulture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9775" y="8229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736D63"/>
                </a:solidFill>
                <a:latin typeface="Consolas"/>
              </a:rPr>
              <a:t>Team  ·  The Reservoir Dogs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23616"/>
                </a:solidFill>
                <a:latin typeface="Consolas"/>
              </a:rPr>
              <a:t>// 01  </a:t>
            </a:r>
            <a:r>
              <a:rPr sz="1300" b="1" i="0">
                <a:solidFill>
                  <a:srgbClr val="736D63"/>
                </a:solidFill>
                <a:latin typeface="Consolas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640080" cy="50800"/>
          </a:xfrm>
          <a:prstGeom prst="rect">
            <a:avLst/>
          </a:prstGeom>
          <a:solidFill>
            <a:srgbClr val="C23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0" i="0">
                <a:solidFill>
                  <a:srgbClr val="1A1A1A"/>
                </a:solidFill>
                <a:latin typeface="Georgia"/>
              </a:rPr>
              <a:t>One story. </a:t>
            </a:r>
            <a:r>
              <a:rPr sz="4000" b="0" i="1">
                <a:solidFill>
                  <a:srgbClr val="C23616"/>
                </a:solidFill>
                <a:latin typeface="Georgia"/>
              </a:rPr>
              <a:t>One 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1" i="0">
                <a:solidFill>
                  <a:srgbClr val="C23616"/>
                </a:solidFill>
                <a:latin typeface="Calibri"/>
              </a:rPr>
              <a:t>→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A Pocket FM story is a single fixed path.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3A3733"/>
                </a:solidFill>
                <a:latin typeface="Calibri"/>
              </a:rPr>
              <a:t>     Written once, by one team — the listener just presses play.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1" i="0">
                <a:solidFill>
                  <a:srgbClr val="C23616"/>
                </a:solidFill>
                <a:latin typeface="Calibri"/>
              </a:rPr>
              <a:t>→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Personalization stops at recommendations.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3A3733"/>
                </a:solidFill>
                <a:latin typeface="Calibri"/>
              </a:rPr>
              <a:t>     AI decides what you see next, but never touches the story itself.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1" i="0">
                <a:solidFill>
                  <a:srgbClr val="C23616"/>
                </a:solidFill>
                <a:latin typeface="Calibri"/>
              </a:rPr>
              <a:t>→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“What if it went differently?” has no answer.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3A3733"/>
                </a:solidFill>
                <a:latin typeface="Calibri"/>
              </a:rPr>
              <a:t>     The most human question a listener asks is a dead end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736D63"/>
                </a:solidFill>
                <a:latin typeface="Consolas"/>
              </a:rPr>
              <a:t>02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12700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23616"/>
                </a:solidFill>
                <a:latin typeface="Consolas"/>
              </a:rPr>
              <a:t>// 02  </a:t>
            </a:r>
            <a:r>
              <a:rPr sz="1300" b="1" i="0">
                <a:solidFill>
                  <a:srgbClr val="736D63"/>
                </a:solidFill>
                <a:latin typeface="Consolas"/>
              </a:rPr>
              <a:t>THE 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640080" cy="50800"/>
          </a:xfrm>
          <a:prstGeom prst="rect">
            <a:avLst/>
          </a:prstGeom>
          <a:solidFill>
            <a:srgbClr val="C23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0" i="0">
                <a:solidFill>
                  <a:srgbClr val="1A1A1A"/>
                </a:solidFill>
                <a:latin typeface="Georgia"/>
              </a:rPr>
              <a:t>Don’t build an AI writer. Build a story </a:t>
            </a:r>
            <a:r>
              <a:rPr sz="3600" b="0" i="1">
                <a:solidFill>
                  <a:srgbClr val="C23616"/>
                </a:solidFill>
                <a:latin typeface="Georgia"/>
              </a:rPr>
              <a:t>only AI makes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200" b="0" i="0">
                <a:solidFill>
                  <a:srgbClr val="3A3733"/>
                </a:solidFill>
                <a:latin typeface="Calibri"/>
              </a:rPr>
              <a:t>The prompt asks what storytelling becomes possible </a:t>
            </a:r>
            <a:r>
              <a:rPr sz="2200" b="1" i="0">
                <a:solidFill>
                  <a:srgbClr val="C23616"/>
                </a:solidFill>
                <a:latin typeface="Calibri"/>
              </a:rPr>
              <a:t>because</a:t>
            </a:r>
            <a:r>
              <a:rPr sz="2200" b="0" i="0">
                <a:solidFill>
                  <a:srgbClr val="3A3733"/>
                </a:solidFill>
                <a:latin typeface="Calibri"/>
              </a:rPr>
              <a:t> AI exists.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00" b="0" i="0">
                <a:solidFill>
                  <a:srgbClr val="3A3733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Answer: a universe of infinite branching timelines that a single AI keeps </a:t>
            </a:r>
            <a:r>
              <a:rPr sz="2200" b="1" i="0">
                <a:solidFill>
                  <a:srgbClr val="C23616"/>
                </a:solidFill>
                <a:latin typeface="Calibri"/>
              </a:rPr>
              <a:t>perfectly consistent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 — something no human writers’ room could ever maintain by hand.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736D63"/>
                </a:solidFill>
                <a:latin typeface="Consolas"/>
              </a:rPr>
              <a:t>03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12700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23616"/>
                </a:solidFill>
                <a:latin typeface="Consolas"/>
              </a:rPr>
              <a:t>// 03  </a:t>
            </a:r>
            <a:r>
              <a:rPr sz="1300" b="1" i="0">
                <a:solidFill>
                  <a:srgbClr val="736D63"/>
                </a:solidFill>
                <a:latin typeface="Consolas"/>
              </a:rP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640080" cy="50800"/>
          </a:xfrm>
          <a:prstGeom prst="rect">
            <a:avLst/>
          </a:prstGeom>
          <a:solidFill>
            <a:srgbClr val="C23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0" i="0">
                <a:solidFill>
                  <a:srgbClr val="1A1A1A"/>
                </a:solidFill>
                <a:latin typeface="Georgia"/>
              </a:rPr>
              <a:t>NEXUS — the story </a:t>
            </a:r>
            <a:r>
              <a:rPr sz="4000" b="0" i="1">
                <a:solidFill>
                  <a:srgbClr val="C23616"/>
                </a:solidFill>
                <a:latin typeface="Georgia"/>
              </a:rPr>
              <a:t>time machine.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800" b="1" i="0">
                <a:solidFill>
                  <a:srgbClr val="C23616"/>
                </a:solidFill>
                <a:latin typeface="Calibri"/>
              </a:rPr>
              <a:t>→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Rewind to any decision point in an episode.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 i="0">
                <a:solidFill>
                  <a:srgbClr val="3A3733"/>
                </a:solidFill>
                <a:latin typeface="Calibri"/>
              </a:rPr>
              <a:t>     “The hero spared the villain” → what if she didn’t?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800" b="1" i="0">
                <a:solidFill>
                  <a:srgbClr val="C23616"/>
                </a:solidFill>
                <a:latin typeface="Calibri"/>
              </a:rPr>
              <a:t>→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AI regenerates the alternate future — consistently.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 i="0">
                <a:solidFill>
                  <a:srgbClr val="3A3733"/>
                </a:solidFill>
                <a:latin typeface="Calibri"/>
              </a:rPr>
              <a:t>     Remembers each character’s voice + what they can know.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800" b="1" i="0">
                <a:solidFill>
                  <a:srgbClr val="C23616"/>
                </a:solidFill>
                <a:latin typeface="Calibri"/>
              </a:rPr>
              <a:t>→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Plays back as a cinematic multi-voice audio drama.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 i="0">
                <a:solidFill>
                  <a:srgbClr val="3A3733"/>
                </a:solidFill>
                <a:latin typeface="Calibri"/>
              </a:rPr>
              <a:t>     Pocket FM’s native format — not text on a screen.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800" b="1" i="0">
                <a:solidFill>
                  <a:srgbClr val="C23616"/>
                </a:solidFill>
                <a:latin typeface="Calibri"/>
              </a:rPr>
              <a:t>→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Community rates; the author verifies canon.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 i="0">
                <a:solidFill>
                  <a:srgbClr val="3A3733"/>
                </a:solidFill>
                <a:latin typeface="Calibri"/>
              </a:rPr>
              <a:t>     One story becomes infinite, coherent timelines.</a:t>
            </a:r>
          </a:p>
        </p:txBody>
      </p:sp>
      <p:pic>
        <p:nvPicPr>
          <p:cNvPr id="6" name="Picture 5" descr="multi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48840"/>
            <a:ext cx="4937760" cy="3209544"/>
          </a:xfrm>
          <a:prstGeom prst="rect">
            <a:avLst/>
          </a:prstGeom>
          <a:ln w="12700">
            <a:solidFill>
              <a:srgbClr val="E4E0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736D63"/>
                </a:solidFill>
                <a:latin typeface="Consolas"/>
              </a:rPr>
              <a:t>04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12700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23616"/>
                </a:solidFill>
                <a:latin typeface="Consolas"/>
              </a:rPr>
              <a:t>// 04  </a:t>
            </a:r>
            <a:r>
              <a:rPr sz="1300" b="1" i="0">
                <a:solidFill>
                  <a:srgbClr val="736D63"/>
                </a:solidFill>
                <a:latin typeface="Consolas"/>
              </a:rP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640080" cy="50800"/>
          </a:xfrm>
          <a:prstGeom prst="rect">
            <a:avLst/>
          </a:prstGeom>
          <a:solidFill>
            <a:srgbClr val="C23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1A1A1A"/>
                </a:solidFill>
                <a:latin typeface="Georgia"/>
              </a:rPr>
              <a:t>From one decision to a new </a:t>
            </a:r>
            <a:r>
              <a:rPr sz="3400" b="0" i="1">
                <a:solidFill>
                  <a:srgbClr val="C23616"/>
                </a:solidFill>
                <a:latin typeface="Georgia"/>
              </a:rPr>
              <a:t>consistent world.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2327" y="2743200"/>
            <a:ext cx="1600200" cy="15544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C23616"/>
                </a:solidFill>
                <a:latin typeface="Georgia"/>
              </a:rPr>
              <a:t>1
</a:t>
            </a:r>
          </a:p>
          <a:p>
            <a:pPr algn="ctr"/>
            <a:r>
              <a:rPr sz="1200">
                <a:solidFill>
                  <a:srgbClr val="1A1A1A"/>
                </a:solidFill>
                <a:latin typeface="Calibri"/>
              </a:rPr>
              <a:t>Rewind</a:t>
            </a:r>
          </a:p>
          <a:p>
            <a:pPr algn="ctr"/>
            <a:r>
              <a:rPr sz="1200">
                <a:solidFill>
                  <a:srgbClr val="1A1A1A"/>
                </a:solidFill>
                <a:latin typeface="Calibri"/>
              </a:rPr>
              <a:t>a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6807" y="333756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C23616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93695" y="2743200"/>
            <a:ext cx="1600200" cy="15544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C23616"/>
                </a:solidFill>
                <a:latin typeface="Georgia"/>
              </a:rPr>
              <a:t>2
</a:t>
            </a:r>
          </a:p>
          <a:p>
            <a:pPr algn="ctr"/>
            <a:r>
              <a:rPr sz="1200">
                <a:solidFill>
                  <a:srgbClr val="1A1A1A"/>
                </a:solidFill>
                <a:latin typeface="Calibri"/>
              </a:rPr>
              <a:t>AI gathers</a:t>
            </a:r>
          </a:p>
          <a:p>
            <a:pPr algn="ctr"/>
            <a:r>
              <a:rPr sz="1200">
                <a:solidFill>
                  <a:srgbClr val="1A1A1A"/>
                </a:solidFill>
                <a:latin typeface="Calibri"/>
              </a:rPr>
              <a:t>canon +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48175" y="333756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C23616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5063" y="2743200"/>
            <a:ext cx="1600200" cy="15544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C23616"/>
                </a:solidFill>
                <a:latin typeface="Georgia"/>
              </a:rPr>
              <a:t>3
</a:t>
            </a:r>
          </a:p>
          <a:p>
            <a:pPr algn="ctr"/>
            <a:r>
              <a:rPr sz="1200">
                <a:solidFill>
                  <a:srgbClr val="1A1A1A"/>
                </a:solidFill>
                <a:latin typeface="Calibri"/>
              </a:rPr>
              <a:t>Regenerate</a:t>
            </a:r>
          </a:p>
          <a:p>
            <a:pPr algn="ctr"/>
            <a:r>
              <a:rPr sz="1200">
                <a:solidFill>
                  <a:srgbClr val="1A1A1A"/>
                </a:solidFill>
                <a:latin typeface="Calibri"/>
              </a:rPr>
              <a:t>the 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9543" y="333756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C23616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431" y="2743200"/>
            <a:ext cx="1600200" cy="15544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C23616"/>
                </a:solidFill>
                <a:latin typeface="Georgia"/>
              </a:rPr>
              <a:t>4
</a:t>
            </a:r>
          </a:p>
          <a:p>
            <a:pPr algn="ctr"/>
            <a:r>
              <a:rPr sz="1200">
                <a:solidFill>
                  <a:srgbClr val="1A1A1A"/>
                </a:solidFill>
                <a:latin typeface="Calibri"/>
              </a:rPr>
              <a:t>Self-check</a:t>
            </a:r>
          </a:p>
          <a:p>
            <a:pPr algn="ctr"/>
            <a:r>
              <a:rPr sz="1200">
                <a:solidFill>
                  <a:srgbClr val="1A1A1A"/>
                </a:solidFill>
                <a:latin typeface="Calibri"/>
              </a:rPr>
              <a:t>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0911" y="333756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C23616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7799" y="2743200"/>
            <a:ext cx="1600200" cy="15544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C23616"/>
                </a:solidFill>
                <a:latin typeface="Georgia"/>
              </a:rPr>
              <a:t>5
</a:t>
            </a:r>
          </a:p>
          <a:p>
            <a:pPr algn="ctr"/>
            <a:r>
              <a:rPr sz="1200">
                <a:solidFill>
                  <a:srgbClr val="1A1A1A"/>
                </a:solidFill>
                <a:latin typeface="Calibri"/>
              </a:rPr>
              <a:t>Narrate as</a:t>
            </a:r>
          </a:p>
          <a:p>
            <a:pPr algn="ctr"/>
            <a:r>
              <a:rPr sz="1200">
                <a:solidFill>
                  <a:srgbClr val="1A1A1A"/>
                </a:solidFill>
                <a:latin typeface="Calibri"/>
              </a:rPr>
              <a:t>audio drama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2279" y="333756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C23616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99167" y="2743200"/>
            <a:ext cx="1600200" cy="15544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C23616"/>
                </a:solidFill>
                <a:latin typeface="Georgia"/>
              </a:rPr>
              <a:t>6
</a:t>
            </a:r>
          </a:p>
          <a:p>
            <a:pPr algn="ctr"/>
            <a:r>
              <a:rPr sz="1200">
                <a:solidFill>
                  <a:srgbClr val="1A1A1A"/>
                </a:solidFill>
                <a:latin typeface="Calibri"/>
              </a:rPr>
              <a:t>Community</a:t>
            </a:r>
          </a:p>
          <a:p>
            <a:pPr algn="ctr"/>
            <a:r>
              <a:rPr sz="1200">
                <a:solidFill>
                  <a:srgbClr val="1A1A1A"/>
                </a:solidFill>
                <a:latin typeface="Calibri"/>
              </a:rPr>
              <a:t>canonizes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736D63"/>
                </a:solidFill>
                <a:latin typeface="Consolas"/>
              </a:rPr>
              <a:t>05 / 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12700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23616"/>
                </a:solidFill>
                <a:latin typeface="Consolas"/>
              </a:rPr>
              <a:t>// 05  </a:t>
            </a:r>
            <a:r>
              <a:rPr sz="1300" b="1" i="0">
                <a:solidFill>
                  <a:srgbClr val="736D63"/>
                </a:solidFill>
                <a:latin typeface="Consolas"/>
              </a:rPr>
              <a:t>KEY FEATURE · 01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640080" cy="50800"/>
          </a:xfrm>
          <a:prstGeom prst="rect">
            <a:avLst/>
          </a:prstGeom>
          <a:solidFill>
            <a:srgbClr val="C23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1A1A1A"/>
                </a:solidFill>
                <a:latin typeface="Georgia"/>
              </a:rPr>
              <a:t>Story Time Machine + </a:t>
            </a:r>
            <a:r>
              <a:rPr sz="3400" b="0" i="1">
                <a:solidFill>
                  <a:srgbClr val="C23616"/>
                </a:solidFill>
                <a:latin typeface="Georgia"/>
              </a:rPr>
              <a:t>persistent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1" i="0">
                <a:solidFill>
                  <a:srgbClr val="C23616"/>
                </a:solidFill>
                <a:latin typeface="Calibri"/>
              </a:rPr>
              <a:t>→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Change one decision, regenerate every future.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3A3733"/>
                </a:solidFill>
                <a:latin typeface="Calibri"/>
              </a:rPr>
              <a:t>     The core P1 challenge — solved, not simulated.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1" i="0">
                <a:solidFill>
                  <a:srgbClr val="C23616"/>
                </a:solidFill>
                <a:latin typeface="Calibri"/>
              </a:rPr>
              <a:t>→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Characters keep voice, goals + knowledge limits.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3A3733"/>
                </a:solidFill>
                <a:latin typeface="Calibri"/>
              </a:rPr>
              <a:t>     Never know what didn’t happen in this timeline.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1" i="0">
                <a:solidFill>
                  <a:srgbClr val="C23616"/>
                </a:solidFill>
                <a:latin typeface="Calibri"/>
              </a:rPr>
              <a:t>→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Each side character carries its own memory.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3A3733"/>
                </a:solidFill>
                <a:latin typeface="Calibri"/>
              </a:rPr>
              <a:t>     The universe grows without breaking continuity.</a:t>
            </a:r>
          </a:p>
        </p:txBody>
      </p:sp>
      <p:pic>
        <p:nvPicPr>
          <p:cNvPr id="6" name="Picture 5" descr="split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286000"/>
            <a:ext cx="5120640" cy="3072384"/>
          </a:xfrm>
          <a:prstGeom prst="rect">
            <a:avLst/>
          </a:prstGeom>
          <a:ln w="12700">
            <a:solidFill>
              <a:srgbClr val="E4E0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736D63"/>
                </a:solidFill>
                <a:latin typeface="Consolas"/>
              </a:rPr>
              <a:t>06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12700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3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23616"/>
                </a:solidFill>
                <a:latin typeface="Consolas"/>
              </a:rPr>
              <a:t>// 06  </a:t>
            </a:r>
            <a:r>
              <a:rPr sz="1300" b="1" i="0">
                <a:solidFill>
                  <a:srgbClr val="736D63"/>
                </a:solidFill>
                <a:latin typeface="Consolas"/>
              </a:rPr>
              <a:t>KEY FEATURE · 02  —  OUR WOW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1A1A1A"/>
                </a:solidFill>
                <a:latin typeface="Georgia"/>
              </a:rPr>
              <a:t>The AI </a:t>
            </a:r>
            <a:r>
              <a:rPr sz="3400" b="0" i="1">
                <a:solidFill>
                  <a:srgbClr val="C23616"/>
                </a:solidFill>
                <a:latin typeface="Georgia"/>
              </a:rPr>
              <a:t>grades and repairs itself</a:t>
            </a:r>
            <a:r>
              <a:rPr sz="3400" b="0" i="0">
                <a:solidFill>
                  <a:srgbClr val="1A1A1A"/>
                </a:solidFill>
                <a:latin typeface="Georgia"/>
              </a:rPr>
              <a:t> —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48463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1" i="0">
                <a:solidFill>
                  <a:srgbClr val="C23616"/>
                </a:solidFill>
                <a:latin typeface="Calibri"/>
              </a:rPr>
              <a:t>→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Scored: continuity, character, reader-intent.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3A3733"/>
                </a:solidFill>
                <a:latin typeface="Calibri"/>
              </a:rPr>
              <a:t>     With exact quoted evidence — not ‘looks good’.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1" i="0">
                <a:solidFill>
                  <a:srgbClr val="C23616"/>
                </a:solidFill>
                <a:latin typeface="Calibri"/>
              </a:rPr>
              <a:t>→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Catches a contradiction? It fixes itself, live.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3A3733"/>
                </a:solidFill>
                <a:latin typeface="Calibri"/>
              </a:rPr>
              <a:t>     Watch the score climb in front of the jury.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1" i="0">
                <a:solidFill>
                  <a:srgbClr val="C23616"/>
                </a:solidFill>
                <a:latin typeface="Calibri"/>
              </a:rPr>
              <a:t>→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Nothing unsafe auto-publishes — a human decides.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3A3733"/>
                </a:solidFill>
                <a:latin typeface="Calibri"/>
              </a:rPr>
              <a:t>     Eval + human-in-the-loop, one story.</a:t>
            </a:r>
          </a:p>
        </p:txBody>
      </p:sp>
      <p:pic>
        <p:nvPicPr>
          <p:cNvPr id="7" name="Picture 6" descr="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965960"/>
            <a:ext cx="5394960" cy="3506724"/>
          </a:xfrm>
          <a:prstGeom prst="rect">
            <a:avLst/>
          </a:prstGeom>
          <a:ln w="12700">
            <a:solidFill>
              <a:srgbClr val="E4E0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005840" y="59893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Every team claims “consistent.” We </a:t>
            </a:r>
            <a:r>
              <a:rPr sz="1600" b="1" i="0">
                <a:solidFill>
                  <a:srgbClr val="C23616"/>
                </a:solidFill>
                <a:latin typeface="Calibri"/>
              </a:rPr>
              <a:t>prove it — and self-correct when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736D63"/>
                </a:solidFill>
                <a:latin typeface="Consolas"/>
              </a:rPr>
              <a:t>07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12700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23616"/>
                </a:solidFill>
                <a:latin typeface="Consolas"/>
              </a:rPr>
              <a:t>// 07  </a:t>
            </a:r>
            <a:r>
              <a:rPr sz="1300" b="1" i="0">
                <a:solidFill>
                  <a:srgbClr val="736D63"/>
                </a:solidFill>
                <a:latin typeface="Consolas"/>
              </a:rPr>
              <a:t>KEY FEATURE · 03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640080" cy="50800"/>
          </a:xfrm>
          <a:prstGeom prst="rect">
            <a:avLst/>
          </a:prstGeom>
          <a:solidFill>
            <a:srgbClr val="C23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1A1A1A"/>
                </a:solidFill>
                <a:latin typeface="Georgia"/>
              </a:rPr>
              <a:t>Cinematic </a:t>
            </a:r>
            <a:r>
              <a:rPr sz="3400" b="0" i="1">
                <a:solidFill>
                  <a:srgbClr val="C23616"/>
                </a:solidFill>
                <a:latin typeface="Georgia"/>
              </a:rPr>
              <a:t>audio drama</a:t>
            </a:r>
            <a:r>
              <a:rPr sz="3400" b="0" i="0">
                <a:solidFill>
                  <a:srgbClr val="1A1A1A"/>
                </a:solidFill>
                <a:latin typeface="Georgia"/>
              </a:rPr>
              <a:t>, not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C23616"/>
                </a:solidFill>
                <a:latin typeface="Calibri"/>
              </a:rPr>
              <a:t>→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Distinct multi-voice narration per branch.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C23616"/>
                </a:solidFill>
                <a:latin typeface="Calibri"/>
              </a:rPr>
              <a:t>→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Music bed + a beat of silence before the moment.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C23616"/>
                </a:solidFill>
                <a:latin typeface="Calibri"/>
              </a:rPr>
              <a:t>→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Audio-first — a layer on Pocket FM’s strength.</a:t>
            </a:r>
          </a:p>
        </p:txBody>
      </p:sp>
      <p:pic>
        <p:nvPicPr>
          <p:cNvPr id="6" name="Picture 5" descr="a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3429000"/>
            <a:ext cx="9235440" cy="3540252"/>
          </a:xfrm>
          <a:prstGeom prst="rect">
            <a:avLst/>
          </a:prstGeom>
          <a:ln w="12700">
            <a:solidFill>
              <a:srgbClr val="E4E0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736D63"/>
                </a:solidFill>
                <a:latin typeface="Consolas"/>
              </a:rPr>
              <a:t>08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12700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23616"/>
                </a:solidFill>
                <a:latin typeface="Consolas"/>
              </a:rPr>
              <a:t>// 08  </a:t>
            </a:r>
            <a:r>
              <a:rPr sz="1300" b="1" i="0">
                <a:solidFill>
                  <a:srgbClr val="736D63"/>
                </a:solidFill>
                <a:latin typeface="Consolas"/>
              </a:rPr>
              <a:t>KEY FEATURE · 04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640080" cy="50800"/>
          </a:xfrm>
          <a:prstGeom prst="rect">
            <a:avLst/>
          </a:prstGeom>
          <a:solidFill>
            <a:srgbClr val="C23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1A1A1A"/>
                </a:solidFill>
                <a:latin typeface="Georgia"/>
              </a:rPr>
              <a:t>AI Co-Author + </a:t>
            </a:r>
            <a:r>
              <a:rPr sz="3400" b="0" i="1">
                <a:solidFill>
                  <a:srgbClr val="C23616"/>
                </a:solidFill>
                <a:latin typeface="Georgia"/>
              </a:rPr>
              <a:t>community canon.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1" i="0">
                <a:solidFill>
                  <a:srgbClr val="C23616"/>
                </a:solidFill>
                <a:latin typeface="Calibri"/>
              </a:rPr>
              <a:t>→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Readers steer the story with comments and ratings.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3A3733"/>
                </a:solidFill>
                <a:latin typeface="Calibri"/>
              </a:rPr>
              <a:t>     Their signals become the input that drives the next branch.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1" i="0">
                <a:solidFill>
                  <a:srgbClr val="C23616"/>
                </a:solidFill>
                <a:latin typeface="Calibri"/>
              </a:rPr>
              <a:t>→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Co-authors write with an AI editor — human approves every line.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3A3733"/>
                </a:solidFill>
                <a:latin typeface="Calibri"/>
              </a:rPr>
              <a:t>     A VS-Code-style studio; nothing saves until the human signs off.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1" i="0">
                <a:solidFill>
                  <a:srgbClr val="C23616"/>
                </a:solidFill>
                <a:latin typeface="Calibri"/>
              </a:rPr>
              <a:t>→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The original author verifies which branch becomes canon.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3A3733"/>
                </a:solidFill>
                <a:latin typeface="Calibri"/>
              </a:rPr>
              <a:t>     The universe grows, curated — AI keeps it coherent.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736D63"/>
                </a:solidFill>
                <a:latin typeface="Consolas"/>
              </a:rPr>
              <a:t>09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12700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3B03A"/>
                </a:solidFill>
                <a:latin typeface="Consolas"/>
              </a:rPr>
              <a:t>//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0" i="1">
                <a:solidFill>
                  <a:srgbClr val="FFFFFF"/>
                </a:solidFill>
                <a:latin typeface="Georgia"/>
              </a:rPr>
              <a:t>Let’s rewrite a fate.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D6CFC1"/>
                </a:solidFill>
                <a:latin typeface="Calibri"/>
              </a:rPr>
              <a:t>Rewind → regenerate → watch it catch &amp; fix itself → hear the branch.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9A9A"/>
                </a:solidFill>
                <a:latin typeface="Consolas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23616"/>
                </a:solidFill>
                <a:latin typeface="Consolas"/>
              </a:rPr>
              <a:t>// 09  </a:t>
            </a:r>
            <a:r>
              <a:rPr sz="1300" b="1" i="0">
                <a:solidFill>
                  <a:srgbClr val="736D63"/>
                </a:solidFill>
                <a:latin typeface="Consolas"/>
              </a:rPr>
              <a:t>UNDER THE HOOD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640080" cy="50800"/>
          </a:xfrm>
          <a:prstGeom prst="rect">
            <a:avLst/>
          </a:prstGeom>
          <a:solidFill>
            <a:srgbClr val="C23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1A1A1A"/>
                </a:solidFill>
                <a:latin typeface="Georgia"/>
              </a:rPr>
              <a:t>Built </a:t>
            </a:r>
            <a:r>
              <a:rPr sz="3400" b="0" i="1">
                <a:solidFill>
                  <a:srgbClr val="C23616"/>
                </a:solidFill>
                <a:latin typeface="Georgia"/>
              </a:rPr>
              <a:t>Databricks-native.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5120640" cy="868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95728"/>
            <a:ext cx="4663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C23616"/>
                </a:solidFill>
                <a:latin typeface="Calibri"/>
              </a:rPr>
              <a:t>Databricks Apps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3A3733"/>
                </a:solidFill>
                <a:latin typeface="Calibri"/>
              </a:rPr>
              <a:t>Serverless hosting + OAuth for the web app &amp;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86000"/>
            <a:ext cx="5120640" cy="868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395728"/>
            <a:ext cx="4663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C23616"/>
                </a:solidFill>
                <a:latin typeface="Calibri"/>
              </a:rPr>
              <a:t>Lakebase (Postgres)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3A3733"/>
                </a:solidFill>
                <a:latin typeface="Calibri"/>
              </a:rPr>
              <a:t>Single store: series, episodes, timelines, character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64408"/>
            <a:ext cx="5120640" cy="868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374136"/>
            <a:ext cx="4663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C23616"/>
                </a:solidFill>
                <a:latin typeface="Calibri"/>
              </a:rPr>
              <a:t>Foundation Model APIs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3A3733"/>
                </a:solidFill>
                <a:latin typeface="Calibri"/>
              </a:rPr>
              <a:t>The tool-calling AI co-author that regenerates timelines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64408"/>
            <a:ext cx="5120640" cy="868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374136"/>
            <a:ext cx="4663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C23616"/>
                </a:solidFill>
                <a:latin typeface="Calibri"/>
              </a:rPr>
              <a:t>Mosaic AI Agent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3A3733"/>
                </a:solidFill>
                <a:latin typeface="Calibri"/>
              </a:rPr>
              <a:t>Reads canon via tools, streams its reasoning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42816"/>
            <a:ext cx="5120640" cy="868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352544"/>
            <a:ext cx="4663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C23616"/>
                </a:solidFill>
                <a:latin typeface="Calibri"/>
              </a:rPr>
              <a:t>MLflow 3 GenAI Eval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3A3733"/>
                </a:solidFill>
                <a:latin typeface="Calibri"/>
              </a:rPr>
              <a:t>The consistency judges + the self-correction scores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42816"/>
            <a:ext cx="5120640" cy="868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352544"/>
            <a:ext cx="4663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C23616"/>
                </a:solidFill>
                <a:latin typeface="Calibri"/>
              </a:rPr>
              <a:t>Multi-voice TTS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3A3733"/>
                </a:solidFill>
                <a:latin typeface="Calibri"/>
              </a:rPr>
              <a:t>Renders each branch into an audio drama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736D63"/>
                </a:solidFill>
                <a:latin typeface="Consolas"/>
              </a:rPr>
              <a:t>11 / 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12700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23616"/>
                </a:solidFill>
                <a:latin typeface="Consolas"/>
              </a:rPr>
              <a:t>// 10  </a:t>
            </a:r>
            <a:r>
              <a:rPr sz="1300" b="1" i="0">
                <a:solidFill>
                  <a:srgbClr val="736D63"/>
                </a:solidFill>
                <a:latin typeface="Consolas"/>
              </a:rPr>
              <a:t>WHY WE’RE DIFFERENT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640080" cy="50800"/>
          </a:xfrm>
          <a:prstGeom prst="rect">
            <a:avLst/>
          </a:prstGeom>
          <a:solidFill>
            <a:srgbClr val="C23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 i="1">
                <a:solidFill>
                  <a:srgbClr val="1A1A1A"/>
                </a:solidFill>
                <a:latin typeface="Georgia"/>
              </a:rPr>
              <a:t>Not “AI writes a story.”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5120640" cy="502920"/>
          </a:xfrm>
          <a:prstGeom prst="roundRect">
            <a:avLst/>
          </a:prstGeom>
          <a:solidFill>
            <a:srgbClr val="736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OTHER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971800"/>
            <a:ext cx="48463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 i="0">
                <a:solidFill>
                  <a:srgbClr val="3A3733"/>
                </a:solidFill>
                <a:latin typeface="Calibri"/>
              </a:rPr>
              <a:t>•  One prompt → one story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 i="0">
                <a:solidFill>
                  <a:srgbClr val="3A3733"/>
                </a:solidFill>
                <a:latin typeface="Calibri"/>
              </a:rPr>
              <a:t>•  ‘Trust us it’s consistent’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 i="0">
                <a:solidFill>
                  <a:srgbClr val="3A3733"/>
                </a:solidFill>
                <a:latin typeface="Calibri"/>
              </a:rPr>
              <a:t>•  Generic single-voice TTS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 i="0">
                <a:solidFill>
                  <a:srgbClr val="3A3733"/>
                </a:solidFill>
                <a:latin typeface="Calibri"/>
              </a:rPr>
              <a:t>•  A one-shot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2286000"/>
            <a:ext cx="5120640" cy="502920"/>
          </a:xfrm>
          <a:prstGeom prst="roundRect">
            <a:avLst/>
          </a:prstGeom>
          <a:solidFill>
            <a:srgbClr val="C23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NEXUS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71800"/>
            <a:ext cx="48463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A universe of consistent timelines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Proves consistency — and self-corrects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Multi-voice cinematic audio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A platform Pocket FM could 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736D63"/>
                </a:solidFill>
                <a:latin typeface="Consolas"/>
              </a:rPr>
              <a:t>12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12700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23616"/>
                </a:solidFill>
                <a:latin typeface="Consolas"/>
              </a:rPr>
              <a:t>// 11  </a:t>
            </a:r>
            <a:r>
              <a:rPr sz="1300" b="1" i="0">
                <a:solidFill>
                  <a:srgbClr val="736D63"/>
                </a:solidFill>
                <a:latin typeface="Consolas"/>
              </a:rPr>
              <a:t>WHY IT MATTERS FOR POCKET FM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640080" cy="50800"/>
          </a:xfrm>
          <a:prstGeom prst="rect">
            <a:avLst/>
          </a:prstGeom>
          <a:solidFill>
            <a:srgbClr val="C23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1A1A1A"/>
                </a:solidFill>
                <a:latin typeface="Georgia"/>
              </a:rPr>
              <a:t>Infinite content. Deeper </a:t>
            </a:r>
            <a:r>
              <a:rPr sz="3400" b="0" i="1">
                <a:solidFill>
                  <a:srgbClr val="C23616"/>
                </a:solidFill>
                <a:latin typeface="Georgia"/>
              </a:rPr>
              <a:t>engagement.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3383280" cy="27432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400" b="1" i="0">
                <a:solidFill>
                  <a:srgbClr val="C23616"/>
                </a:solidFill>
                <a:latin typeface="Georgia"/>
              </a:rPr>
              <a:t>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Calibri"/>
              </a:rPr>
              <a:t>Timelines from one story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3A3733"/>
                </a:solidFill>
                <a:latin typeface="Calibri"/>
              </a:rPr>
              <a:t>More catalogue, zero extra writers’ rooms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468880"/>
            <a:ext cx="3383280" cy="27432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74320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400" b="1" i="0">
                <a:solidFill>
                  <a:srgbClr val="C23616"/>
                </a:solidFill>
                <a:latin typeface="Georgia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840480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Calibri"/>
              </a:rPr>
              <a:t>Listener retention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3A3733"/>
                </a:solidFill>
                <a:latin typeface="Calibri"/>
              </a:rPr>
              <a:t>“My story” beats “a story” — people finish what feels theirs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468880"/>
            <a:ext cx="3383280" cy="27432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74320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400" b="1" i="0">
                <a:solidFill>
                  <a:srgbClr val="C23616"/>
                </a:solidFill>
                <a:latin typeface="Georgia"/>
              </a:rPr>
              <a:t>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840480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Calibri"/>
              </a:rPr>
              <a:t>A new format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3A3733"/>
                </a:solidFill>
                <a:latin typeface="Calibri"/>
              </a:rPr>
              <a:t>Interactive, personal audio drama — AI-native, on-brand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736D63"/>
                </a:solidFill>
                <a:latin typeface="Consolas"/>
              </a:rPr>
              <a:t>13 /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291072"/>
            <a:ext cx="10545775" cy="12700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23616"/>
                </a:solidFill>
                <a:latin typeface="Consolas"/>
              </a:rPr>
              <a:t>// 12  </a:t>
            </a:r>
            <a:r>
              <a:rPr sz="1300" b="1" i="0">
                <a:solidFill>
                  <a:srgbClr val="736D63"/>
                </a:solidFill>
                <a:latin typeface="Consolas"/>
              </a:rPr>
              <a:t>WHAT’S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640080" cy="50800"/>
          </a:xfrm>
          <a:prstGeom prst="rect">
            <a:avLst/>
          </a:prstGeom>
          <a:solidFill>
            <a:srgbClr val="C23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1A1A1A"/>
                </a:solidFill>
                <a:latin typeface="Georgia"/>
              </a:rPr>
              <a:t>From hackathon to </a:t>
            </a:r>
            <a:r>
              <a:rPr sz="3400" b="0" i="1">
                <a:solidFill>
                  <a:srgbClr val="C23616"/>
                </a:solidFill>
                <a:latin typeface="Georgia"/>
              </a:rPr>
              <a:t>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800" b="1" i="0">
                <a:solidFill>
                  <a:srgbClr val="C23616"/>
                </a:solidFill>
                <a:latin typeface="Calibri"/>
              </a:rPr>
              <a:t>→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Now  —  live demo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 i="0">
                <a:solidFill>
                  <a:srgbClr val="3A3733"/>
                </a:solidFill>
                <a:latin typeface="Calibri"/>
              </a:rPr>
              <a:t>     Rewind → consistent regeneration → self-correcting evals → audio drama.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800" b="1" i="0">
                <a:solidFill>
                  <a:srgbClr val="C23616"/>
                </a:solidFill>
                <a:latin typeface="Calibri"/>
              </a:rPr>
              <a:t>→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Next  —  scale the universe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 i="0">
                <a:solidFill>
                  <a:srgbClr val="3A3733"/>
                </a:solidFill>
                <a:latin typeface="Calibri"/>
              </a:rPr>
              <a:t>     Vector memory for deep lineage; multi-level branching.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800" b="1" i="0">
                <a:solidFill>
                  <a:srgbClr val="C23616"/>
                </a:solidFill>
                <a:latin typeface="Calibri"/>
              </a:rPr>
              <a:t>→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Then  —  Pocket FM integration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 i="0">
                <a:solidFill>
                  <a:srgbClr val="3A3733"/>
                </a:solidFill>
                <a:latin typeface="Calibri"/>
              </a:rPr>
              <a:t>     A personalization layer over the existing catalogue &amp; voice pipeline.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800" b="1" i="0">
                <a:solidFill>
                  <a:srgbClr val="C23616"/>
                </a:solidFill>
                <a:latin typeface="Calibri"/>
              </a:rPr>
              <a:t>→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Vision  —  every side character a protagonist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 i="0">
                <a:solidFill>
                  <a:srgbClr val="3A3733"/>
                </a:solidFill>
                <a:latin typeface="Calibri"/>
              </a:rPr>
              <a:t>     Infinite Story Universe: today’s villain is tomorrow’s hero.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736D63"/>
                </a:solidFill>
                <a:latin typeface="Consolas"/>
              </a:rPr>
              <a:t>14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12700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3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400" b="1" i="0">
                <a:solidFill>
                  <a:srgbClr val="FFFFFF"/>
                </a:solidFill>
                <a:latin typeface="Georgia"/>
              </a:rPr>
              <a:t>NEXUS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0" i="0">
                <a:solidFill>
                  <a:srgbClr val="D6CFC1"/>
                </a:solidFill>
                <a:latin typeface="Georgia"/>
              </a:rPr>
              <a:t>Every story has infinite endings. </a:t>
            </a:r>
            <a:r>
              <a:rPr sz="2600" b="0" i="1">
                <a:solidFill>
                  <a:srgbClr val="F3B03A"/>
                </a:solidFill>
                <a:latin typeface="Georgia"/>
              </a:rPr>
              <a:t>We keep them true.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Other teams’ AI claims to be consistent.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Ours </a:t>
            </a:r>
            <a:r>
              <a:rPr sz="2000" b="1" i="0">
                <a:solidFill>
                  <a:srgbClr val="F3B03A"/>
                </a:solidFill>
                <a:latin typeface="Calibri"/>
              </a:rPr>
              <a:t>proves it — and fixes itself when it’s wrong.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669280"/>
            <a:ext cx="1417320" cy="384048"/>
          </a:xfrm>
          <a:prstGeom prst="roundRect">
            <a:avLst/>
          </a:prstGeom>
          <a:noFill/>
          <a:ln w="12700">
            <a:solidFill>
              <a:srgbClr val="44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5344E"/>
                </a:solidFill>
                <a:latin typeface="Calibri"/>
              </a:rPr>
              <a:t>● </a:t>
            </a:r>
            <a:r>
              <a:rPr sz="1100">
                <a:solidFill>
                  <a:srgbClr val="FFFFFF"/>
                </a:solidFill>
                <a:latin typeface="Calibri"/>
              </a:rPr>
              <a:t>Pocket FM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5669280"/>
            <a:ext cx="1417320" cy="384048"/>
          </a:xfrm>
          <a:prstGeom prst="roundRect">
            <a:avLst/>
          </a:prstGeom>
          <a:noFill/>
          <a:ln w="12700">
            <a:solidFill>
              <a:srgbClr val="44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3621"/>
                </a:solidFill>
                <a:latin typeface="Calibri"/>
              </a:rPr>
              <a:t>● </a:t>
            </a:r>
            <a:r>
              <a:rPr sz="1100">
                <a:solidFill>
                  <a:srgbClr val="FFFFFF"/>
                </a:solidFill>
                <a:latin typeface="Calibri"/>
              </a:rPr>
              <a:t>Databricks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5669280"/>
            <a:ext cx="1417320" cy="384048"/>
          </a:xfrm>
          <a:prstGeom prst="roundRect">
            <a:avLst/>
          </a:prstGeom>
          <a:noFill/>
          <a:ln w="12700">
            <a:solidFill>
              <a:srgbClr val="44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● </a:t>
            </a:r>
            <a:r>
              <a:rPr sz="1100">
                <a:solidFill>
                  <a:srgbClr val="FFFFFF"/>
                </a:solidFill>
                <a:latin typeface="Calibri"/>
              </a:rPr>
              <a:t>OpenAI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5669280"/>
            <a:ext cx="1417320" cy="384048"/>
          </a:xfrm>
          <a:prstGeom prst="roundRect">
            <a:avLst/>
          </a:prstGeom>
          <a:noFill/>
          <a:ln w="12700">
            <a:solidFill>
              <a:srgbClr val="44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● </a:t>
            </a:r>
            <a:r>
              <a:rPr sz="1100">
                <a:solidFill>
                  <a:srgbClr val="FFFFFF"/>
                </a:solidFill>
                <a:latin typeface="Calibri"/>
              </a:rPr>
              <a:t>HackCulture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6895" y="57150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A9A9A"/>
                </a:solidFill>
                <a:latin typeface="Consolas"/>
              </a:rPr>
              <a:t>Team · The Reservoir Dogs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